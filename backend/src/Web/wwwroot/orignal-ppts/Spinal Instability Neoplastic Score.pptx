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3" r:id="rId3"/>
    <p:sldId id="264" r:id="rId4"/>
    <p:sldId id="265" r:id="rId5"/>
    <p:sldId id="266" r:id="rId6"/>
    <p:sldId id="257" r:id="rId7"/>
    <p:sldId id="258" r:id="rId8"/>
    <p:sldId id="259" r:id="rId9"/>
    <p:sldId id="260" r:id="rId10"/>
    <p:sldId id="262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9B76609-6533-482F-A348-B38B5F4FC0AC}" type="datetimeFigureOut">
              <a:rPr lang="en-CA" smtClean="0"/>
              <a:t>11/10/2011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C71E7A57-EBFC-4530-A76C-846BF5A040B7}" type="slidenum">
              <a:rPr lang="en-CA" smtClean="0"/>
              <a:t>‹#›</a:t>
            </a:fld>
            <a:endParaRPr lang="en-CA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1676400"/>
            <a:ext cx="7846640" cy="1524000"/>
          </a:xfrm>
        </p:spPr>
        <p:txBody>
          <a:bodyPr>
            <a:normAutofit/>
          </a:bodyPr>
          <a:lstStyle/>
          <a:p>
            <a:r>
              <a:rPr lang="en-CA" sz="3200" dirty="0"/>
              <a:t>Spinal Instability Neoplastic </a:t>
            </a:r>
            <a:r>
              <a:rPr lang="en-CA" sz="3200" dirty="0" smtClean="0"/>
              <a:t>Score</a:t>
            </a:r>
            <a:br>
              <a:rPr lang="en-CA" sz="3200" dirty="0" smtClean="0"/>
            </a:br>
            <a:r>
              <a:rPr lang="en-CA" sz="3200" dirty="0" smtClean="0"/>
              <a:t>&amp; </a:t>
            </a:r>
            <a:r>
              <a:rPr lang="en-CA" sz="3200" dirty="0"/>
              <a:t>The “LMNOP” System</a:t>
            </a:r>
            <a:endParaRPr lang="en-CA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789040"/>
            <a:ext cx="3886200" cy="1240159"/>
          </a:xfrm>
        </p:spPr>
        <p:txBody>
          <a:bodyPr/>
          <a:lstStyle/>
          <a:p>
            <a:r>
              <a:rPr lang="en-CA" dirty="0" smtClean="0"/>
              <a:t>Spine Rounds</a:t>
            </a:r>
          </a:p>
          <a:p>
            <a:endParaRPr lang="en-CA" dirty="0"/>
          </a:p>
          <a:p>
            <a:r>
              <a:rPr lang="en-CA" dirty="0" smtClean="0"/>
              <a:t>Ahmed Quateen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970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0223"/>
            <a:ext cx="5760640" cy="6797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700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Stability and Mets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VBs support up to 80% of the axial load of </a:t>
            </a:r>
            <a:r>
              <a:rPr lang="en-CA" dirty="0" smtClean="0"/>
              <a:t>the spine.</a:t>
            </a:r>
          </a:p>
          <a:p>
            <a:r>
              <a:rPr lang="en-CA" dirty="0" smtClean="0"/>
              <a:t>Consequently</a:t>
            </a:r>
            <a:r>
              <a:rPr lang="en-CA" dirty="0"/>
              <a:t>, </a:t>
            </a:r>
            <a:r>
              <a:rPr lang="en-CA" dirty="0" err="1"/>
              <a:t>osteolytic</a:t>
            </a:r>
            <a:r>
              <a:rPr lang="en-CA" dirty="0"/>
              <a:t> lesions of the VB, </a:t>
            </a:r>
            <a:r>
              <a:rPr lang="en-CA" dirty="0" smtClean="0"/>
              <a:t>the most </a:t>
            </a:r>
            <a:r>
              <a:rPr lang="en-CA" dirty="0"/>
              <a:t>common site of metastasis, can significantly </a:t>
            </a:r>
            <a:r>
              <a:rPr lang="en-CA" dirty="0" smtClean="0"/>
              <a:t>impact the </a:t>
            </a:r>
            <a:r>
              <a:rPr lang="en-CA" dirty="0"/>
              <a:t>loading capacity of the spine. </a:t>
            </a:r>
            <a:endParaRPr lang="en-CA" dirty="0" smtClean="0"/>
          </a:p>
          <a:p>
            <a:r>
              <a:rPr lang="en-CA" dirty="0" smtClean="0"/>
              <a:t>The </a:t>
            </a:r>
            <a:r>
              <a:rPr lang="en-CA" dirty="0"/>
              <a:t>degree of impact </a:t>
            </a:r>
            <a:r>
              <a:rPr lang="en-CA" dirty="0" smtClean="0"/>
              <a:t>is determined by:</a:t>
            </a:r>
          </a:p>
          <a:p>
            <a:pPr lvl="1"/>
            <a:r>
              <a:rPr lang="en-CA" dirty="0" smtClean="0"/>
              <a:t> </a:t>
            </a:r>
            <a:r>
              <a:rPr lang="en-CA" dirty="0"/>
              <a:t>the size of the lesion, </a:t>
            </a:r>
            <a:endParaRPr lang="en-CA" dirty="0" smtClean="0"/>
          </a:p>
          <a:p>
            <a:pPr lvl="1"/>
            <a:r>
              <a:rPr lang="en-CA" dirty="0" smtClean="0"/>
              <a:t>cross-sectional area of </a:t>
            </a:r>
            <a:r>
              <a:rPr lang="en-CA" dirty="0"/>
              <a:t>the intact VB, and </a:t>
            </a:r>
            <a:endParaRPr lang="en-CA" dirty="0" smtClean="0"/>
          </a:p>
          <a:p>
            <a:pPr lvl="1"/>
            <a:r>
              <a:rPr lang="en-CA" dirty="0" smtClean="0"/>
              <a:t>overall </a:t>
            </a:r>
            <a:r>
              <a:rPr lang="en-CA" dirty="0"/>
              <a:t>bone mineral density. </a:t>
            </a:r>
            <a:endParaRPr lang="en-CA" dirty="0" smtClean="0"/>
          </a:p>
          <a:p>
            <a:r>
              <a:rPr lang="en-CA" dirty="0" smtClean="0"/>
              <a:t>As lytic </a:t>
            </a:r>
            <a:r>
              <a:rPr lang="en-CA" dirty="0"/>
              <a:t>lesions grow in size, they can undermine the </a:t>
            </a:r>
            <a:r>
              <a:rPr lang="en-CA" dirty="0" smtClean="0"/>
              <a:t>integrity of the VB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660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Instability …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likelihood of </a:t>
            </a:r>
            <a:r>
              <a:rPr lang="en-CA" dirty="0" smtClean="0"/>
              <a:t>pathological fracture </a:t>
            </a:r>
            <a:r>
              <a:rPr lang="en-CA" dirty="0"/>
              <a:t>could be predicted by calculating the product </a:t>
            </a:r>
            <a:r>
              <a:rPr lang="en-CA" dirty="0" smtClean="0"/>
              <a:t>of cross-sectional </a:t>
            </a:r>
            <a:r>
              <a:rPr lang="en-CA" dirty="0"/>
              <a:t>area of the intact bone and bone </a:t>
            </a:r>
            <a:r>
              <a:rPr lang="en-CA" dirty="0" smtClean="0"/>
              <a:t>mineral density.</a:t>
            </a:r>
          </a:p>
          <a:p>
            <a:r>
              <a:rPr lang="en-CA" dirty="0" smtClean="0"/>
              <a:t> </a:t>
            </a:r>
            <a:r>
              <a:rPr lang="en-CA" dirty="0" err="1"/>
              <a:t>Taneichi</a:t>
            </a:r>
            <a:r>
              <a:rPr lang="en-CA" dirty="0"/>
              <a:t> et al</a:t>
            </a:r>
            <a:r>
              <a:rPr lang="en-CA" dirty="0" smtClean="0"/>
              <a:t>. </a:t>
            </a:r>
            <a:r>
              <a:rPr lang="en-CA" dirty="0"/>
              <a:t>showed that collapse was </a:t>
            </a:r>
            <a:r>
              <a:rPr lang="en-CA" dirty="0" smtClean="0"/>
              <a:t>predicted by </a:t>
            </a:r>
            <a:r>
              <a:rPr lang="en-CA" dirty="0"/>
              <a:t>50–60% VB </a:t>
            </a:r>
            <a:r>
              <a:rPr lang="en-CA" dirty="0" err="1"/>
              <a:t>lysis</a:t>
            </a:r>
            <a:r>
              <a:rPr lang="en-CA" dirty="0"/>
              <a:t> in the thoracic spine and 35</a:t>
            </a:r>
            <a:r>
              <a:rPr lang="en-CA" dirty="0" smtClean="0"/>
              <a:t>– 45</a:t>
            </a:r>
            <a:r>
              <a:rPr lang="en-CA" dirty="0"/>
              <a:t>% in the lower thoracic/lumbar spine. </a:t>
            </a:r>
            <a:endParaRPr lang="en-CA" dirty="0" smtClean="0"/>
          </a:p>
          <a:p>
            <a:r>
              <a:rPr lang="en-CA" dirty="0" smtClean="0"/>
              <a:t>Segments </a:t>
            </a:r>
            <a:r>
              <a:rPr lang="en-CA" dirty="0"/>
              <a:t>of </a:t>
            </a:r>
            <a:r>
              <a:rPr lang="en-CA" dirty="0" smtClean="0"/>
              <a:t>high mobility </a:t>
            </a:r>
            <a:r>
              <a:rPr lang="en-CA" dirty="0"/>
              <a:t>or stress, such as the </a:t>
            </a:r>
            <a:r>
              <a:rPr lang="en-CA" dirty="0" err="1"/>
              <a:t>cervicothoracic</a:t>
            </a:r>
            <a:r>
              <a:rPr lang="en-CA" dirty="0"/>
              <a:t> and </a:t>
            </a:r>
            <a:r>
              <a:rPr lang="en-CA" dirty="0" smtClean="0"/>
              <a:t>thoracolumbar junctions</a:t>
            </a:r>
            <a:r>
              <a:rPr lang="en-CA" dirty="0"/>
              <a:t>, are likely to be subject to </a:t>
            </a:r>
            <a:r>
              <a:rPr lang="en-CA" dirty="0" smtClean="0"/>
              <a:t>fracture with </a:t>
            </a:r>
            <a:r>
              <a:rPr lang="en-CA" dirty="0"/>
              <a:t>less tumor burden. </a:t>
            </a:r>
            <a:endParaRPr lang="en-CA" dirty="0" smtClean="0"/>
          </a:p>
          <a:p>
            <a:r>
              <a:rPr lang="en-CA" dirty="0" smtClean="0"/>
              <a:t>Metastases </a:t>
            </a:r>
            <a:r>
              <a:rPr lang="en-CA" dirty="0"/>
              <a:t>to the dorsal </a:t>
            </a:r>
            <a:r>
              <a:rPr lang="en-CA" dirty="0" smtClean="0"/>
              <a:t>elements of </a:t>
            </a:r>
            <a:r>
              <a:rPr lang="en-CA" dirty="0"/>
              <a:t>the spinal column, especially the facet joints, are </a:t>
            </a:r>
            <a:r>
              <a:rPr lang="en-CA" dirty="0" smtClean="0"/>
              <a:t>believed to </a:t>
            </a:r>
            <a:r>
              <a:rPr lang="en-CA" dirty="0"/>
              <a:t>predispose patients to pathological dislocation</a:t>
            </a:r>
            <a:r>
              <a:rPr lang="en-CA" dirty="0" smtClean="0"/>
              <a:t>, </a:t>
            </a:r>
            <a:r>
              <a:rPr lang="en-CA" dirty="0" err="1" smtClean="0"/>
              <a:t>spondylolysis</a:t>
            </a:r>
            <a:r>
              <a:rPr lang="en-CA" dirty="0"/>
              <a:t>, and translational instability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7776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Instability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 err="1" smtClean="0"/>
              <a:t>Cybulski</a:t>
            </a:r>
            <a:r>
              <a:rPr lang="en-CA" dirty="0" smtClean="0"/>
              <a:t> </a:t>
            </a:r>
            <a:r>
              <a:rPr lang="en-CA" dirty="0"/>
              <a:t>proposed imaging criteria for </a:t>
            </a:r>
            <a:r>
              <a:rPr lang="en-CA" dirty="0" smtClean="0"/>
              <a:t>the assessment </a:t>
            </a:r>
            <a:r>
              <a:rPr lang="en-CA" dirty="0"/>
              <a:t>of spine instability due to tumors; these </a:t>
            </a:r>
            <a:r>
              <a:rPr lang="en-CA" dirty="0" smtClean="0"/>
              <a:t>were as </a:t>
            </a:r>
            <a:r>
              <a:rPr lang="en-CA" dirty="0"/>
              <a:t>follows: </a:t>
            </a:r>
            <a:endParaRPr lang="en-CA" dirty="0" smtClean="0"/>
          </a:p>
          <a:p>
            <a:pPr lvl="1"/>
            <a:r>
              <a:rPr lang="en-CA" dirty="0" smtClean="0"/>
              <a:t>1</a:t>
            </a:r>
            <a:r>
              <a:rPr lang="en-CA" dirty="0"/>
              <a:t>) anterior and middle column destruction </a:t>
            </a:r>
            <a:r>
              <a:rPr lang="en-CA" dirty="0" smtClean="0"/>
              <a:t>(&gt; 50</a:t>
            </a:r>
            <a:r>
              <a:rPr lang="en-CA" dirty="0"/>
              <a:t>% collapse of VB height); </a:t>
            </a:r>
            <a:endParaRPr lang="en-CA" dirty="0" smtClean="0"/>
          </a:p>
          <a:p>
            <a:pPr lvl="1"/>
            <a:r>
              <a:rPr lang="en-CA" dirty="0" smtClean="0"/>
              <a:t>2</a:t>
            </a:r>
            <a:r>
              <a:rPr lang="en-CA" dirty="0"/>
              <a:t>) collapse of 2 or more </a:t>
            </a:r>
            <a:r>
              <a:rPr lang="en-CA" dirty="0" smtClean="0"/>
              <a:t>adjacent VBs</a:t>
            </a:r>
            <a:r>
              <a:rPr lang="en-CA" dirty="0"/>
              <a:t>; </a:t>
            </a:r>
            <a:endParaRPr lang="en-CA" dirty="0" smtClean="0"/>
          </a:p>
          <a:p>
            <a:pPr lvl="1"/>
            <a:r>
              <a:rPr lang="en-CA" dirty="0" smtClean="0"/>
              <a:t>3</a:t>
            </a:r>
            <a:r>
              <a:rPr lang="en-CA" dirty="0"/>
              <a:t>) tumor involvement of the middle and </a:t>
            </a:r>
            <a:r>
              <a:rPr lang="en-CA" dirty="0" smtClean="0"/>
              <a:t>posterior columns </a:t>
            </a:r>
            <a:r>
              <a:rPr lang="en-CA" dirty="0"/>
              <a:t>(possibility of forward shear deformity);</a:t>
            </a:r>
          </a:p>
          <a:p>
            <a:pPr lvl="1"/>
            <a:r>
              <a:rPr lang="en-CA" dirty="0" smtClean="0"/>
              <a:t>4</a:t>
            </a:r>
            <a:r>
              <a:rPr lang="en-CA" dirty="0"/>
              <a:t>) previous surgical laminectomy, with failure to </a:t>
            </a:r>
            <a:r>
              <a:rPr lang="en-CA" dirty="0" smtClean="0"/>
              <a:t>recognize anterior </a:t>
            </a:r>
            <a:r>
              <a:rPr lang="en-CA" dirty="0"/>
              <a:t>and middle column disease. </a:t>
            </a:r>
            <a:endParaRPr lang="en-CA" dirty="0" smtClean="0"/>
          </a:p>
          <a:p>
            <a:r>
              <a:rPr lang="en-CA" dirty="0" smtClean="0"/>
              <a:t>This study recommended </a:t>
            </a:r>
            <a:r>
              <a:rPr lang="en-CA" dirty="0"/>
              <a:t>surgical decompression and fixation </a:t>
            </a:r>
            <a:r>
              <a:rPr lang="en-CA" dirty="0" smtClean="0"/>
              <a:t>when one </a:t>
            </a:r>
            <a:r>
              <a:rPr lang="en-CA" dirty="0"/>
              <a:t>of these instability criteria is met or when </a:t>
            </a:r>
            <a:r>
              <a:rPr lang="en-CA" dirty="0" smtClean="0"/>
              <a:t>neural compression </a:t>
            </a:r>
            <a:r>
              <a:rPr lang="en-CA" dirty="0"/>
              <a:t>is present in patients with a life </a:t>
            </a:r>
            <a:r>
              <a:rPr lang="en-CA" dirty="0" smtClean="0"/>
              <a:t>expectancy of </a:t>
            </a:r>
            <a:r>
              <a:rPr lang="en-CA" dirty="0"/>
              <a:t>&gt; 5–6 months, competent immune and nutritional status</a:t>
            </a:r>
            <a:r>
              <a:rPr lang="en-CA" dirty="0" smtClean="0"/>
              <a:t>, incomplete </a:t>
            </a:r>
            <a:r>
              <a:rPr lang="en-CA" dirty="0"/>
              <a:t>neurological deficit, and a </a:t>
            </a:r>
            <a:r>
              <a:rPr lang="en-CA" dirty="0" err="1" smtClean="0"/>
              <a:t>radioresistant</a:t>
            </a:r>
            <a:r>
              <a:rPr lang="en-CA" dirty="0" smtClean="0"/>
              <a:t> tumor </a:t>
            </a:r>
            <a:r>
              <a:rPr lang="en-CA" dirty="0"/>
              <a:t>or a tumor that failed to respond to previous treatment.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13797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6" y="0"/>
            <a:ext cx="9124864" cy="4999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691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Components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25780" indent="-457200">
              <a:buFont typeface="+mj-lt"/>
              <a:buAutoNum type="arabicPeriod"/>
            </a:pPr>
            <a:r>
              <a:rPr lang="en-CA" dirty="0" smtClean="0"/>
              <a:t>Location</a:t>
            </a:r>
          </a:p>
          <a:p>
            <a:pPr marL="525780" indent="-457200">
              <a:buFont typeface="+mj-lt"/>
              <a:buAutoNum type="arabicPeriod"/>
            </a:pPr>
            <a:r>
              <a:rPr lang="en-CA" dirty="0" smtClean="0"/>
              <a:t>Mechanical back pain</a:t>
            </a:r>
          </a:p>
          <a:p>
            <a:pPr marL="525780" indent="-457200">
              <a:buFont typeface="+mj-lt"/>
              <a:buAutoNum type="arabicPeriod"/>
            </a:pPr>
            <a:r>
              <a:rPr lang="en-CA" dirty="0" smtClean="0"/>
              <a:t>Characteristic of the Bone lesion</a:t>
            </a:r>
          </a:p>
          <a:p>
            <a:pPr marL="525780" indent="-457200">
              <a:buFont typeface="+mj-lt"/>
              <a:buAutoNum type="arabicPeriod"/>
            </a:pPr>
            <a:r>
              <a:rPr lang="en-CA" dirty="0" smtClean="0"/>
              <a:t>Radiographic spinal alignment</a:t>
            </a:r>
          </a:p>
          <a:p>
            <a:pPr marL="525780" indent="-457200">
              <a:buFont typeface="+mj-lt"/>
              <a:buAutoNum type="arabicPeriod"/>
            </a:pPr>
            <a:r>
              <a:rPr lang="en-CA" dirty="0" smtClean="0"/>
              <a:t>Vertebral body collapse</a:t>
            </a:r>
          </a:p>
          <a:p>
            <a:pPr marL="525780" indent="-457200">
              <a:buFont typeface="+mj-lt"/>
              <a:buAutoNum type="arabicPeriod"/>
            </a:pPr>
            <a:r>
              <a:rPr lang="en-CA" dirty="0" err="1" smtClean="0"/>
              <a:t>Posterolateral</a:t>
            </a:r>
            <a:r>
              <a:rPr lang="en-CA" dirty="0" smtClean="0"/>
              <a:t> involvement</a:t>
            </a:r>
          </a:p>
          <a:p>
            <a:pPr>
              <a:buFont typeface="Wingdings" pitchFamily="2" charset="2"/>
              <a:buChar char="v"/>
            </a:pPr>
            <a:r>
              <a:rPr lang="en-CA" dirty="0"/>
              <a:t>modifying </a:t>
            </a:r>
            <a:r>
              <a:rPr lang="en-CA" dirty="0" smtClean="0"/>
              <a:t>factors (not scored but should be considered)</a:t>
            </a:r>
            <a:br>
              <a:rPr lang="en-CA" dirty="0" smtClean="0"/>
            </a:br>
            <a:endParaRPr lang="en-CA" dirty="0"/>
          </a:p>
          <a:p>
            <a:r>
              <a:rPr lang="en-CA" dirty="0" smtClean="0"/>
              <a:t>Score 0 – 18 …</a:t>
            </a:r>
          </a:p>
          <a:p>
            <a:pPr lvl="1"/>
            <a:r>
              <a:rPr lang="en-CA" dirty="0"/>
              <a:t>Scores of 0 to 6 denote “stability</a:t>
            </a:r>
            <a:r>
              <a:rPr lang="en-CA" dirty="0" smtClean="0"/>
              <a:t>,” </a:t>
            </a:r>
            <a:endParaRPr lang="en-CA" dirty="0"/>
          </a:p>
          <a:p>
            <a:pPr lvl="1"/>
            <a:r>
              <a:rPr lang="en-CA" dirty="0"/>
              <a:t>scores of 7 to 12 denote “indeterminate (possibly impending</a:t>
            </a:r>
            <a:r>
              <a:rPr lang="en-CA" dirty="0" smtClean="0"/>
              <a:t>) instability</a:t>
            </a:r>
            <a:r>
              <a:rPr lang="en-CA" dirty="0"/>
              <a:t>,” and </a:t>
            </a:r>
            <a:endParaRPr lang="en-CA" dirty="0" smtClean="0"/>
          </a:p>
          <a:p>
            <a:pPr lvl="1"/>
            <a:r>
              <a:rPr lang="en-CA" dirty="0" smtClean="0"/>
              <a:t>scores </a:t>
            </a:r>
            <a:r>
              <a:rPr lang="en-CA" dirty="0"/>
              <a:t>of 13 to 18 denote “instability</a:t>
            </a:r>
            <a:r>
              <a:rPr lang="en-CA" dirty="0" smtClean="0"/>
              <a:t>.” </a:t>
            </a:r>
          </a:p>
          <a:p>
            <a:r>
              <a:rPr lang="en-CA" dirty="0" smtClean="0"/>
              <a:t>Patients </a:t>
            </a:r>
            <a:r>
              <a:rPr lang="en-CA" dirty="0"/>
              <a:t>with SINS scores of 7 to 18 </a:t>
            </a:r>
            <a:r>
              <a:rPr lang="en-CA" dirty="0" smtClean="0"/>
              <a:t>warrant surgical </a:t>
            </a:r>
            <a:r>
              <a:rPr lang="en-CA" dirty="0"/>
              <a:t>consultation</a:t>
            </a:r>
            <a:endParaRPr lang="en-CA" dirty="0" smtClean="0"/>
          </a:p>
          <a:p>
            <a:endParaRPr lang="en-CA" dirty="0" smtClean="0"/>
          </a:p>
          <a:p>
            <a:pPr marL="525780" indent="-4572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2315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81209"/>
            <a:ext cx="5616624" cy="669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41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modifying factors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Multilevel (</a:t>
            </a:r>
            <a:r>
              <a:rPr lang="en-CA" dirty="0"/>
              <a:t>contiguous) spinal </a:t>
            </a:r>
            <a:r>
              <a:rPr lang="en-CA" dirty="0" smtClean="0"/>
              <a:t>disease. (the </a:t>
            </a:r>
            <a:r>
              <a:rPr lang="en-CA" dirty="0"/>
              <a:t>role of </a:t>
            </a:r>
            <a:r>
              <a:rPr lang="en-CA" dirty="0" err="1"/>
              <a:t>noncontiguous</a:t>
            </a:r>
            <a:r>
              <a:rPr lang="en-CA" dirty="0"/>
              <a:t> lesions is also </a:t>
            </a:r>
            <a:r>
              <a:rPr lang="en-CA" dirty="0" smtClean="0"/>
              <a:t>not fully </a:t>
            </a:r>
            <a:r>
              <a:rPr lang="en-CA" dirty="0"/>
              <a:t>established. </a:t>
            </a:r>
            <a:r>
              <a:rPr lang="en-CA" dirty="0" smtClean="0"/>
              <a:t>)</a:t>
            </a:r>
          </a:p>
          <a:p>
            <a:r>
              <a:rPr lang="en-CA" dirty="0" smtClean="0"/>
              <a:t>Previous </a:t>
            </a:r>
            <a:r>
              <a:rPr lang="en-CA" dirty="0"/>
              <a:t>laminectomies or other </a:t>
            </a:r>
            <a:r>
              <a:rPr lang="en-CA" dirty="0" smtClean="0"/>
              <a:t>surgical procedures </a:t>
            </a:r>
            <a:r>
              <a:rPr lang="en-CA" dirty="0"/>
              <a:t>and previous radiation therapy (</a:t>
            </a:r>
            <a:r>
              <a:rPr lang="en-CA" dirty="0" smtClean="0"/>
              <a:t>including radiosurgery). </a:t>
            </a:r>
            <a:endParaRPr lang="en-CA" dirty="0"/>
          </a:p>
          <a:p>
            <a:r>
              <a:rPr lang="en-CA" dirty="0" smtClean="0"/>
              <a:t>The </a:t>
            </a:r>
            <a:r>
              <a:rPr lang="en-CA" dirty="0"/>
              <a:t>extent of diffuse bony involvement of </a:t>
            </a:r>
            <a:r>
              <a:rPr lang="en-CA" dirty="0" smtClean="0"/>
              <a:t>metastatic disease </a:t>
            </a:r>
            <a:r>
              <a:rPr lang="en-CA" dirty="0"/>
              <a:t>and likely poor bone </a:t>
            </a:r>
            <a:r>
              <a:rPr lang="en-CA" dirty="0" smtClean="0"/>
              <a:t>quality. </a:t>
            </a:r>
          </a:p>
          <a:p>
            <a:r>
              <a:rPr lang="en-CA" dirty="0" smtClean="0"/>
              <a:t>Patient </a:t>
            </a:r>
            <a:r>
              <a:rPr lang="en-CA" dirty="0"/>
              <a:t>body weight and activity </a:t>
            </a:r>
            <a:r>
              <a:rPr lang="en-CA" dirty="0" smtClean="0"/>
              <a:t>level may </a:t>
            </a:r>
            <a:r>
              <a:rPr lang="en-CA" dirty="0"/>
              <a:t>also influence spinal loading and impending instability</a:t>
            </a:r>
            <a:r>
              <a:rPr lang="en-CA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977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005063"/>
            <a:ext cx="7772400" cy="1328937"/>
          </a:xfrm>
        </p:spPr>
        <p:txBody>
          <a:bodyPr>
            <a:normAutofit fontScale="85000" lnSpcReduction="20000"/>
          </a:bodyPr>
          <a:lstStyle/>
          <a:p>
            <a:r>
              <a:rPr lang="en-CA" b="1" u="sng" dirty="0"/>
              <a:t>Conclusion</a:t>
            </a:r>
          </a:p>
          <a:p>
            <a:r>
              <a:rPr lang="en-CA" dirty="0"/>
              <a:t>SINS demonstrated near-perfect inter- and </a:t>
            </a:r>
            <a:r>
              <a:rPr lang="en-CA" dirty="0" err="1"/>
              <a:t>intraobserver</a:t>
            </a:r>
            <a:r>
              <a:rPr lang="en-CA" dirty="0"/>
              <a:t> reliability in determining three </a:t>
            </a:r>
            <a:r>
              <a:rPr lang="en-CA" dirty="0" smtClean="0"/>
              <a:t>clinically relevant </a:t>
            </a:r>
            <a:r>
              <a:rPr lang="en-CA" dirty="0"/>
              <a:t>categories of stability. </a:t>
            </a:r>
            <a:endParaRPr lang="en-CA" dirty="0" smtClean="0"/>
          </a:p>
          <a:p>
            <a:r>
              <a:rPr lang="en-CA" dirty="0" smtClean="0"/>
              <a:t>The </a:t>
            </a:r>
            <a:r>
              <a:rPr lang="en-CA" dirty="0"/>
              <a:t>sensitivity and specificity of SINS for potentially unstable </a:t>
            </a:r>
            <a:r>
              <a:rPr lang="en-CA" dirty="0" smtClean="0"/>
              <a:t>or unstable </a:t>
            </a:r>
            <a:r>
              <a:rPr lang="en-CA" dirty="0"/>
              <a:t>lesions were 95.7% and 79.5%, respectively</a:t>
            </a:r>
            <a:endParaRPr lang="en-CA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098179" cy="3861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261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The “LMNOP” System</a:t>
            </a:r>
            <a:endParaRPr lang="en-CA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240692"/>
            <a:ext cx="5976664" cy="5617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146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rban Pop">
  <a:themeElements>
    <a:clrScheme name="Urban Pop">
      <a:dk1>
        <a:srgbClr val="000000"/>
      </a:dk1>
      <a:lt1>
        <a:srgbClr val="FFFFFF"/>
      </a:lt1>
      <a:dk2>
        <a:srgbClr val="282828"/>
      </a:dk2>
      <a:lt2>
        <a:srgbClr val="D4D4D4"/>
      </a:lt2>
      <a:accent1>
        <a:srgbClr val="86CE24"/>
      </a:accent1>
      <a:accent2>
        <a:srgbClr val="00A2E6"/>
      </a:accent2>
      <a:accent3>
        <a:srgbClr val="FAC810"/>
      </a:accent3>
      <a:accent4>
        <a:srgbClr val="7D8F8C"/>
      </a:accent4>
      <a:accent5>
        <a:srgbClr val="D06B20"/>
      </a:accent5>
      <a:accent6>
        <a:srgbClr val="958B8B"/>
      </a:accent6>
      <a:hlink>
        <a:srgbClr val="FF9900"/>
      </a:hlink>
      <a:folHlink>
        <a:srgbClr val="969696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TC101859862[[fn=Urban Pop]]</Template>
  <TotalTime>67</TotalTime>
  <Words>474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Urban Pop</vt:lpstr>
      <vt:lpstr>Spinal Instability Neoplastic Score &amp; The “LMNOP” System</vt:lpstr>
      <vt:lpstr>PowerPoint Presentation</vt:lpstr>
      <vt:lpstr>Stability and Mets</vt:lpstr>
      <vt:lpstr>Instability …</vt:lpstr>
      <vt:lpstr>Instability</vt:lpstr>
      <vt:lpstr>PowerPoint Presentation</vt:lpstr>
      <vt:lpstr>Components</vt:lpstr>
      <vt:lpstr>PowerPoint Presentation</vt:lpstr>
      <vt:lpstr>modifying factors</vt:lpstr>
      <vt:lpstr>PowerPoint Presentation</vt:lpstr>
      <vt:lpstr>The “LMNOP” System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Spinal Instability Neoplastic Score</dc:title>
  <dc:creator>Quateen</dc:creator>
  <cp:lastModifiedBy>Quateen</cp:lastModifiedBy>
  <cp:revision>6</cp:revision>
  <dcterms:created xsi:type="dcterms:W3CDTF">2011-10-12T04:53:24Z</dcterms:created>
  <dcterms:modified xsi:type="dcterms:W3CDTF">2011-10-12T06:01:23Z</dcterms:modified>
</cp:coreProperties>
</file>