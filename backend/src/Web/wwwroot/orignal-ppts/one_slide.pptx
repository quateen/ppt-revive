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3"/>
  </p:sldMasterIdLst>
  <p:notesMasterIdLst>
    <p:notesMasterId r:id="rId5"/>
  </p:notesMasterIdLst>
  <p:handoutMasterIdLst>
    <p:handoutMasterId r:id="rId6"/>
  </p:handoutMasterIdLst>
  <p:sldIdLst>
    <p:sldId id="258" r:id="rId4"/>
  </p:sldIdLst>
  <p:sldSz cx="9144000" cy="6858000" type="screen4x3"/>
  <p:notesSz cx="7010400" cy="92964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/>
    <p:restoredTop sz="94635"/>
  </p:normalViewPr>
  <p:slideViewPr>
    <p:cSldViewPr snapToObjects="1">
      <p:cViewPr varScale="1">
        <p:scale>
          <a:sx n="113" d="100"/>
          <a:sy n="113" d="100"/>
        </p:scale>
        <p:origin x="192" y="2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Master" Target="slideMasters/slideMaster1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6C00903-DF54-5D1D-27E9-B2268845572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294" tIns="45647" rIns="91294" bIns="45647" rtlCol="0"/>
          <a:lstStyle>
            <a:lvl1pPr algn="l" eaLnBrk="1" hangingPunct="1">
              <a:defRPr sz="1200">
                <a:latin typeface="Arial" charset="0"/>
                <a:ea typeface="ＭＳ Ｐゴシック" pitchFamily="64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2E075A-7BC2-00A6-0227-21AF9229938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wrap="square" lIns="91294" tIns="45647" rIns="91294" bIns="45647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9624D742-6C97-4447-8246-559C2BC063A5}" type="datetimeFigureOut">
              <a:rPr lang="en-US" altLang="en-US"/>
              <a:pPr>
                <a:defRPr/>
              </a:pPr>
              <a:t>5/6/25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195F35-2F82-E733-EE68-457258780BD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294" tIns="45647" rIns="91294" bIns="45647" rtlCol="0" anchor="b"/>
          <a:lstStyle>
            <a:lvl1pPr algn="l" eaLnBrk="1" hangingPunct="1">
              <a:defRPr sz="1200">
                <a:latin typeface="Arial" charset="0"/>
                <a:ea typeface="ＭＳ Ｐゴシック" pitchFamily="64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6B2992-539F-20DA-125B-39D648143E1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294" tIns="45647" rIns="91294" bIns="45647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B6E2EAFA-3EB4-D340-91F6-C9B421DBD9D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C90259D-DD85-1D81-0A58-8EE66A0092D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294" tIns="45647" rIns="91294" bIns="45647" rtlCol="0"/>
          <a:lstStyle>
            <a:lvl1pPr algn="l" eaLnBrk="1" hangingPunct="1">
              <a:defRPr sz="1200">
                <a:latin typeface="Arial" charset="0"/>
                <a:ea typeface="ＭＳ Ｐゴシック" pitchFamily="64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5F837C-CF29-D61D-FAC5-9E2C1F86EF3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wrap="square" lIns="91294" tIns="45647" rIns="91294" bIns="45647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35DCD14B-BAB5-294B-8757-7A7C9D6825F0}" type="datetimeFigureOut">
              <a:rPr lang="en-US" altLang="en-US"/>
              <a:pPr>
                <a:defRPr/>
              </a:pPr>
              <a:t>5/6/25</a:t>
            </a:fld>
            <a:endParaRPr lang="en-US" alt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451A709-006B-689B-2498-606559D269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294" tIns="45647" rIns="91294" bIns="45647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F61869C-7089-04C9-FA10-394D3FB933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0088" y="4414838"/>
            <a:ext cx="5610225" cy="4184650"/>
          </a:xfrm>
          <a:prstGeom prst="rect">
            <a:avLst/>
          </a:prstGeom>
        </p:spPr>
        <p:txBody>
          <a:bodyPr vert="horz" lIns="91294" tIns="45647" rIns="91294" bIns="45647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42F60E-0BA5-0A9A-AC80-92961DF30F9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294" tIns="45647" rIns="91294" bIns="45647" rtlCol="0" anchor="b"/>
          <a:lstStyle>
            <a:lvl1pPr algn="l" eaLnBrk="1" hangingPunct="1">
              <a:defRPr sz="1200">
                <a:latin typeface="Arial" charset="0"/>
                <a:ea typeface="ＭＳ Ｐゴシック" pitchFamily="64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BE0F67-A6F3-6339-5DD2-4D1BBC0E30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294" tIns="45647" rIns="91294" bIns="45647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254115F1-742B-B74E-AFEE-987C3BEA663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ヒラギノ角ゴ Pro W3" charset="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ヒラギノ角ゴ Pro W3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ヒラギノ角ゴ Pro W3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ヒラギノ角ゴ Pro W3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ヒラギノ角ゴ Pro W3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4C6734-D668-FACA-02DD-C82175510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86FCC1-AD6B-B64D-938D-C12FE1DC5E60}" type="datetime1">
              <a:rPr lang="en-US" altLang="en-US"/>
              <a:pPr>
                <a:defRPr/>
              </a:pPr>
              <a:t>5/6/25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C183E9-3FB9-2FDD-11D8-2C994FA8B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0825A5-7238-4197-F18E-FD95A0CF3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4843EA-3F52-3B42-BBC4-D372832ED3B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7911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01B83F-8EB8-C4EA-76DE-5534A5FE5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4647B4-5D6D-0345-95EB-E22DA3564A37}" type="datetime1">
              <a:rPr lang="en-US" altLang="en-US"/>
              <a:pPr>
                <a:defRPr/>
              </a:pPr>
              <a:t>5/6/25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52078B-69A7-99DD-D803-203EC64FB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D5EC71-75B1-1637-593B-4F836543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3ED1DF-3C35-384F-BE08-5346ED95AF4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9336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47E5D0-F8A0-AD86-4492-319FAAF11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79F221-7145-E641-840F-B39A27BFDA34}" type="datetime1">
              <a:rPr lang="en-US" altLang="en-US"/>
              <a:pPr>
                <a:defRPr/>
              </a:pPr>
              <a:t>5/6/25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74F7FB-1AFE-5C81-31E0-DFE2CB18D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BB7426-888C-A673-6AF9-17881700C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A54FDA-589A-4E49-B35F-1A66194CE0D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1329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E70DA3B-6209-6E51-A57E-83701527F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787F75-459E-CF4A-A527-D7B9538F22FD}" type="datetime1">
              <a:rPr lang="en-US" altLang="en-US"/>
              <a:pPr>
                <a:defRPr/>
              </a:pPr>
              <a:t>5/6/25</a:t>
            </a:fld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1349029-0031-DCBA-ECFF-A6A7BF64A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8FE618D-0871-B7C2-38D1-80B1085F0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902FC-7010-A844-93D3-779D9F21B84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3391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C512CC3-0600-146D-ED11-F7ED57F3A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DEC80A-3017-AE4B-8EF9-F7060B25FBBC}" type="datetime1">
              <a:rPr lang="en-US" altLang="en-US"/>
              <a:pPr>
                <a:defRPr/>
              </a:pPr>
              <a:t>5/6/25</a:t>
            </a:fld>
            <a:endParaRPr lang="en-US" alt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DD6CC2B-700C-2A17-C951-47883A9A9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20545C3-0835-619F-AECA-5EF4EA905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2726BD-4BBB-0D41-8C6E-444C026BC4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0375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0037B344-096F-BFF2-C405-7FE579874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BDBE93-85F9-CB48-A80B-0E8AB259BF2A}" type="datetime1">
              <a:rPr lang="en-US" altLang="en-US"/>
              <a:pPr>
                <a:defRPr/>
              </a:pPr>
              <a:t>5/6/25</a:t>
            </a:fld>
            <a:endParaRPr lang="en-US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0AB40A8-589C-9758-CCB4-C9ADE3130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CB19019-8A24-8901-A878-D8180BBBA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C5DC77-40C1-6641-BC28-9B5D2DBEE60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0224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CF696E7-62AE-B5C7-4373-C68854141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9BEA80-2467-4C45-B6DF-342A7A4322F8}" type="datetime1">
              <a:rPr lang="en-US" altLang="en-US"/>
              <a:pPr>
                <a:defRPr/>
              </a:pPr>
              <a:t>5/6/25</a:t>
            </a:fld>
            <a:endParaRPr lang="en-US" alt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25A7A27-4FD3-D13E-E393-BAB4300FF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D9B8437-2FAB-1199-EF45-597B10FB1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42A599-76D4-1A44-AFA5-D9D6014F670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08393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0909BBE-776D-8908-CE62-64A5C5013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3AF16C-A284-BF47-8F17-87A1BC2B7B31}" type="datetime1">
              <a:rPr lang="en-US" altLang="en-US"/>
              <a:pPr>
                <a:defRPr/>
              </a:pPr>
              <a:t>5/6/25</a:t>
            </a:fld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1322776-13A3-4953-2260-70DC235DE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E801A9E-C7B6-C0AD-7E85-F34DB90D0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A88333-7CBD-9249-9E17-95DEDFC845B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4483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D45AEEE-562D-3E7A-DD39-DDBA81E3F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5090EB-4B1F-F449-AD37-30AFB953FCBC}" type="datetime1">
              <a:rPr lang="en-US" altLang="en-US"/>
              <a:pPr>
                <a:defRPr/>
              </a:pPr>
              <a:t>5/6/25</a:t>
            </a:fld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EED1826-F2B4-EEFF-29A2-639303CD3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AC74B45-2C63-C550-4703-F099E8BC7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382621-624C-544C-97BA-B663C810F9F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4962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92467-CA27-C241-D426-A99D26965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77F02A-8D64-E34E-86DE-8D3F66F6F028}" type="datetime1">
              <a:rPr lang="en-US" altLang="en-US"/>
              <a:pPr>
                <a:defRPr/>
              </a:pPr>
              <a:t>5/6/25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D9802D-850A-A696-D448-73CE7DC6C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315173-6840-FBB0-3FBA-00B29A3FF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48458E-3B90-1148-A81A-57711CB0B1A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94779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422796-3926-7B8B-0366-04158434E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F30636-B883-5640-A047-E1A54552B95F}" type="datetime1">
              <a:rPr lang="en-US" altLang="en-US"/>
              <a:pPr>
                <a:defRPr/>
              </a:pPr>
              <a:t>5/6/25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F0B28-92F7-9287-0725-D469D87F8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9BE99C-724A-71FA-B516-BCDFE5576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2A1A23-8E1A-4B44-BF55-3BD8C2FB80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2109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9F2BC961-4DAB-D669-32E1-DE0E02378F9F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BF7B0DB9-E11F-BDAF-42B2-ACCAB1D4FB2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DBB8DA-28C9-90B7-A767-32763D59C2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 smtClean="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A0178ACD-6CC9-E14B-86DE-13D11C4C027F}" type="datetime1">
              <a:rPr lang="en-US" altLang="en-US"/>
              <a:pPr>
                <a:defRPr/>
              </a:pPr>
              <a:t>5/6/25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9989E-465C-5AA3-C022-344C7B30F6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Calibri" pitchFamily="64" charset="0"/>
                <a:ea typeface="ＭＳ Ｐゴシック" pitchFamily="64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32F52A-C876-5A40-A5B4-60FECA6A34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D7A13702-92FE-0543-9A22-2FE196608BF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pitchFamily="64" charset="-128"/>
          <a:cs typeface="ＭＳ Ｐゴシック" pitchFamily="64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64" charset="0"/>
          <a:ea typeface="ＭＳ Ｐゴシック" pitchFamily="64" charset="-128"/>
          <a:cs typeface="ＭＳ Ｐゴシック" pitchFamily="64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64" charset="0"/>
          <a:ea typeface="ＭＳ Ｐゴシック" pitchFamily="64" charset="-128"/>
          <a:cs typeface="ＭＳ Ｐゴシック" pitchFamily="64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64" charset="0"/>
          <a:ea typeface="ＭＳ Ｐゴシック" pitchFamily="64" charset="-128"/>
          <a:cs typeface="ＭＳ Ｐゴシック" pitchFamily="64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64" charset="0"/>
          <a:ea typeface="ＭＳ Ｐゴシック" pitchFamily="64" charset="-128"/>
          <a:cs typeface="ＭＳ Ｐゴシック" pitchFamily="64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64" charset="0"/>
          <a:ea typeface="ＭＳ Ｐゴシック" pitchFamily="64" charset="-128"/>
          <a:cs typeface="ＭＳ Ｐゴシック" pitchFamily="64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64" charset="0"/>
          <a:ea typeface="ＭＳ Ｐゴシック" pitchFamily="64" charset="-128"/>
          <a:cs typeface="ＭＳ Ｐゴシック" pitchFamily="64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64" charset="0"/>
          <a:ea typeface="ＭＳ Ｐゴシック" pitchFamily="64" charset="-128"/>
          <a:cs typeface="ＭＳ Ｐゴシック" pitchFamily="64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64" charset="0"/>
          <a:ea typeface="ＭＳ Ｐゴシック" pitchFamily="64" charset="-128"/>
          <a:cs typeface="ＭＳ Ｐゴシック" pitchFamily="64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ＭＳ Ｐゴシック" pitchFamily="64" charset="-128"/>
          <a:cs typeface="ＭＳ Ｐゴシック" pitchFamily="64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ＭＳ Ｐゴシック" pitchFamily="64" charset="-128"/>
          <a:cs typeface="ＭＳ Ｐゴシック" charset="0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ヒラギノ角ゴ Pro W3" charset="0"/>
          <a:cs typeface="Geneva" charset="-128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Geneva" charset="-128"/>
          <a:cs typeface="Geneva" charset="0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Geneva" charset="-128"/>
          <a:cs typeface="Geneva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>
            <a:extLst>
              <a:ext uri="{FF2B5EF4-FFF2-40B4-BE49-F238E27FC236}">
                <a16:creationId xmlns:a16="http://schemas.microsoft.com/office/drawing/2014/main" id="{309598E9-60D1-D2C3-CCF8-1BDAC4B9E2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066800"/>
            <a:ext cx="1701800" cy="55626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63500" dist="23000" dir="5400000" rotWithShape="0">
              <a:srgbClr val="00000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n-US" sz="2800">
              <a:latin typeface="Calibri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075" name="Rectangle 7">
            <a:extLst>
              <a:ext uri="{FF2B5EF4-FFF2-40B4-BE49-F238E27FC236}">
                <a16:creationId xmlns:a16="http://schemas.microsoft.com/office/drawing/2014/main" id="{5F81034E-3C07-7457-DF08-4BCBF2E70E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152400"/>
            <a:ext cx="6934200" cy="744538"/>
          </a:xfrm>
          <a:prstGeom prst="rect">
            <a:avLst/>
          </a:prstGeom>
          <a:solidFill>
            <a:srgbClr val="800000"/>
          </a:solidFill>
          <a:ln>
            <a:noFill/>
          </a:ln>
          <a:effectLst>
            <a:outerShdw blurRad="63500" dist="23000" dir="5400000" rotWithShape="0">
              <a:srgbClr val="00000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srgbClr val="FFFFFF"/>
              </a:solidFill>
              <a:latin typeface="Calibri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6388" name="TextBox 9">
            <a:extLst>
              <a:ext uri="{FF2B5EF4-FFF2-40B4-BE49-F238E27FC236}">
                <a16:creationId xmlns:a16="http://schemas.microsoft.com/office/drawing/2014/main" id="{CF13F97F-50C9-7249-66FC-2900FC1E8D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254000"/>
            <a:ext cx="6705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4" charset="-128"/>
                <a:cs typeface="Geneva" panose="020B050303040404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Geneva" panose="020B0503030404040204" pitchFamily="34" charset="0"/>
                <a:cs typeface="Geneva" panose="020B05030304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Geneva" panose="020B0503030404040204" pitchFamily="34" charset="0"/>
                <a:cs typeface="Geneva" panose="020B050303040404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Geneva" panose="020B0503030404040204" pitchFamily="34" charset="0"/>
                <a:cs typeface="Geneva" panose="020B050303040404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Geneva" panose="020B0503030404040204" pitchFamily="34" charset="0"/>
                <a:cs typeface="Geneva" panose="020B050303040404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Geneva" panose="020B0503030404040204" pitchFamily="34" charset="0"/>
                <a:cs typeface="Geneva" panose="020B050303040404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Geneva" panose="020B0503030404040204" pitchFamily="34" charset="0"/>
                <a:cs typeface="Geneva" panose="020B05030304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FFFFFF"/>
                </a:solidFill>
              </a:rPr>
              <a:t>ICD-10 Implementation</a:t>
            </a:r>
          </a:p>
        </p:txBody>
      </p:sp>
      <p:pic>
        <p:nvPicPr>
          <p:cNvPr id="16389" name="Picture 6" descr="red_UHS_letters.eps">
            <a:extLst>
              <a:ext uri="{FF2B5EF4-FFF2-40B4-BE49-F238E27FC236}">
                <a16:creationId xmlns:a16="http://schemas.microsoft.com/office/drawing/2014/main" id="{268CC19E-A8F0-E1B2-9E83-278B806DB2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90513"/>
            <a:ext cx="1376363" cy="60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0" name="Content Placeholder 8">
            <a:extLst>
              <a:ext uri="{FF2B5EF4-FFF2-40B4-BE49-F238E27FC236}">
                <a16:creationId xmlns:a16="http://schemas.microsoft.com/office/drawing/2014/main" id="{140AE2B5-4765-4541-D7E1-F6566145B0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7400" y="1265238"/>
            <a:ext cx="6629400" cy="5364162"/>
          </a:xfrm>
        </p:spPr>
        <p:txBody>
          <a:bodyPr/>
          <a:lstStyle/>
          <a:p>
            <a:pPr>
              <a:spcBef>
                <a:spcPts val="300"/>
              </a:spcBef>
            </a:pPr>
            <a:r>
              <a:rPr lang="en-US" altLang="en-US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October 1, 2015 – Compliance date for implementation of ICD-10-CM (diagnoses) and ICD-10-PCS (procedures) </a:t>
            </a:r>
          </a:p>
          <a:p>
            <a:pPr lvl="1">
              <a:spcBef>
                <a:spcPts val="300"/>
              </a:spcBef>
            </a:pPr>
            <a:r>
              <a:rPr lang="en-US" altLang="en-US" sz="18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Ambulatory and physician services provided on or after 10/1/15</a:t>
            </a:r>
          </a:p>
          <a:p>
            <a:pPr lvl="1">
              <a:spcBef>
                <a:spcPts val="300"/>
              </a:spcBef>
            </a:pPr>
            <a:r>
              <a:rPr lang="en-US" altLang="en-US" sz="18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Inpatient discharges occurring on or after 10/1/15</a:t>
            </a:r>
          </a:p>
          <a:p>
            <a:pPr>
              <a:spcBef>
                <a:spcPts val="300"/>
              </a:spcBef>
            </a:pPr>
            <a:endParaRPr lang="en-US" altLang="en-US" sz="2400" dirty="0">
              <a:ea typeface="ＭＳ Ｐゴシック" panose="020B0600070205080204" pitchFamily="34" charset="-128"/>
              <a:cs typeface="ＭＳ Ｐゴシック" panose="020B0600070205080204" pitchFamily="34" charset="-128"/>
            </a:endParaRPr>
          </a:p>
          <a:p>
            <a:pPr>
              <a:spcBef>
                <a:spcPts val="300"/>
              </a:spcBef>
            </a:pPr>
            <a:r>
              <a:rPr lang="en-US" altLang="en-US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ICD-10-CM (diagnoses) will be used by all providers in every health care setting </a:t>
            </a:r>
          </a:p>
          <a:p>
            <a:pPr>
              <a:spcBef>
                <a:spcPts val="300"/>
              </a:spcBef>
            </a:pPr>
            <a:endParaRPr lang="en-US" altLang="en-US" sz="2400" dirty="0">
              <a:ea typeface="ＭＳ Ｐゴシック" panose="020B0600070205080204" pitchFamily="34" charset="-128"/>
              <a:cs typeface="ＭＳ Ｐゴシック" panose="020B0600070205080204" pitchFamily="34" charset="-128"/>
            </a:endParaRPr>
          </a:p>
          <a:p>
            <a:pPr>
              <a:spcBef>
                <a:spcPts val="300"/>
              </a:spcBef>
            </a:pPr>
            <a:r>
              <a:rPr lang="en-US" altLang="en-US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ICD-10-PCS (procedures) will be used only for hospital claims for inpatient hospital procedures </a:t>
            </a:r>
          </a:p>
          <a:p>
            <a:pPr lvl="1">
              <a:spcBef>
                <a:spcPts val="300"/>
              </a:spcBef>
            </a:pPr>
            <a:r>
              <a:rPr lang="en-US" altLang="en-US" sz="20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ICD-10-PCS will not be used on physician claims, even those for </a:t>
            </a:r>
            <a:r>
              <a:rPr lang="en-US" altLang="en-US" sz="200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inpatient visits</a:t>
            </a:r>
            <a:endParaRPr lang="en-US" altLang="en-US" dirty="0">
              <a:ea typeface="ＭＳ Ｐゴシック" panose="020B0600070205080204" pitchFamily="34" charset="-128"/>
              <a:cs typeface="ＭＳ Ｐゴシック" panose="020B0600070205080204" pitchFamily="34" charset="-128"/>
            </a:endParaRPr>
          </a:p>
        </p:txBody>
      </p:sp>
      <p:sp>
        <p:nvSpPr>
          <p:cNvPr id="16391" name="Slide Number Placeholder 6">
            <a:extLst>
              <a:ext uri="{FF2B5EF4-FFF2-40B4-BE49-F238E27FC236}">
                <a16:creationId xmlns:a16="http://schemas.microsoft.com/office/drawing/2014/main" id="{58070BCA-7C06-3B42-8474-01153F7C0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4" charset="-128"/>
                <a:cs typeface="Geneva" panose="020B050303040404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Geneva" panose="020B0503030404040204" pitchFamily="34" charset="0"/>
                <a:cs typeface="Geneva" panose="020B05030304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Geneva" panose="020B0503030404040204" pitchFamily="34" charset="0"/>
                <a:cs typeface="Geneva" panose="020B050303040404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Geneva" panose="020B0503030404040204" pitchFamily="34" charset="0"/>
                <a:cs typeface="Geneva" panose="020B050303040404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Geneva" panose="020B0503030404040204" pitchFamily="34" charset="0"/>
                <a:cs typeface="Geneva" panose="020B050303040404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Geneva" panose="020B0503030404040204" pitchFamily="34" charset="0"/>
                <a:cs typeface="Geneva" panose="020B050303040404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Geneva" panose="020B0503030404040204" pitchFamily="34" charset="0"/>
                <a:cs typeface="Geneva" panose="020B05030304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84B5FE7-019A-8D4B-9998-7ABE369015A7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1E7A656DD632442A3D7C579A7D863BB" ma:contentTypeVersion="0" ma:contentTypeDescription="Create a new document." ma:contentTypeScope="" ma:versionID="95eb1bd089c5ccca5cbfc8e1d828e0d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1b05d82d297216baf5b26c55225140df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6597AB4-D885-4555-996E-CA084E83FA8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6038E4C-85A6-428E-ABC1-F9B5677871A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9026</TotalTime>
  <Words>82</Words>
  <Application>Microsoft Macintosh PowerPoint</Application>
  <PresentationFormat>On-screen Show (4:3)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ＭＳ Ｐゴシック</vt:lpstr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cp:lastModifiedBy>Muhammad Awais</cp:lastModifiedBy>
  <cp:revision>479</cp:revision>
  <cp:lastPrinted>2015-07-17T12:49:12Z</cp:lastPrinted>
  <dcterms:created xsi:type="dcterms:W3CDTF">2009-05-27T12:52:31Z</dcterms:created>
  <dcterms:modified xsi:type="dcterms:W3CDTF">2025-05-06T10:55:27Z</dcterms:modified>
  <cp:category/>
</cp:coreProperties>
</file>